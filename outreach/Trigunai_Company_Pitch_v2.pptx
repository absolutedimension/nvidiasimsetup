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3" name="Image 0" descr="/Users/deepakkumarrai/Documents/01_Active/Blender-Antigravity/trigun-logo-output/trigun_2k_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9144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4688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TrigunAI Innovations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40080" y="3337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F0"/>
                </a:solidFill>
              </a:rPr>
              <a:t>Two engines, one company — AI education that ships, and physical-AI research.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4114800"/>
            <a:ext cx="2190902" cy="384048"/>
          </a:xfrm>
          <a:prstGeom prst="roundRect">
            <a:avLst>
              <a:gd name="adj" fmla="val 19048"/>
            </a:avLst>
          </a:prstGeom>
          <a:solidFill>
            <a:srgbClr val="13314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114800"/>
            <a:ext cx="21909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NVIDIA Inception Member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059582" y="4114800"/>
            <a:ext cx="2443277" cy="384048"/>
          </a:xfrm>
          <a:prstGeom prst="roundRect">
            <a:avLst>
              <a:gd name="adj" fmla="val 19048"/>
            </a:avLst>
          </a:prstGeom>
          <a:solidFill>
            <a:srgbClr val="13314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59582" y="4114800"/>
            <a:ext cx="24432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Google Android XR Catalyst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D"/>
                </a:solidFill>
              </a:rPr>
              <a:t>Patna · Mumbai, India     |     CIN U86909BR2025PTC078945     |     Incorporated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2333"/>
                </a:solidFill>
              </a:rPr>
              <a:t>TRIGUNAI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41148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</a:rPr>
              <a:t>WHY NOW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pressures, one company built for both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22579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23076" y="2148840"/>
            <a:ext cx="522579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42316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3"/>
                </a:solidFill>
              </a:rPr>
              <a:t>India needs an AI workforce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2971800"/>
            <a:ext cx="458571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</a:rPr>
              <a:t>The world's #1 AI-learning market — 1.3M+ learners and rising (NASSCOM–Deloitte).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</a:rPr>
              <a:t>But the talent pipeline is fragmented and theory-heavy.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</a:rPr>
              <a:t>We teach by shipping — learners leave with a published app or a trained policy.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43116" y="242316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3"/>
                </a:solidFill>
              </a:rPr>
              <a:t>Physical AI is the next decade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43116" y="2971800"/>
            <a:ext cx="458571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</a:rPr>
              <a:t>Robotics &amp; embodied AI is where value compounds next.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</a:rPr>
              <a:t>India has minimal indigenous capability and little founder-accessible Isaac-grade infra.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</a:rPr>
              <a:t>We build that capability in-house on the NVIDIA stack.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3314F"/>
                </a:solidFill>
              </a:rPr>
              <a:t>Our bet: build the human-capital pipeline for India's physical-AI workforce — and own a piece of the stack while we do it.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TrigunAI Innovations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720072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2333"/>
                </a:solidFill>
              </a:rPr>
              <a:t>TRIGUNAI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41148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</a:rPr>
              <a:t>THE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company, two coupled engines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25796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225796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468880"/>
            <a:ext cx="4585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</a:rPr>
              <a:t>ENGINE 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74320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3"/>
                </a:solidFill>
              </a:rPr>
              <a:t>Learning Engine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3291840"/>
            <a:ext cx="45857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3"/>
                </a:solidFill>
              </a:rPr>
              <a:t>Courses that teach by shipping. Free content → paid live cohort. Run by Deepak. The revenue engine — funds everything.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23076" y="2194560"/>
            <a:ext cx="5225796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23076" y="2194560"/>
            <a:ext cx="5225796" cy="109728"/>
          </a:xfrm>
          <a:prstGeom prst="rect">
            <a:avLst/>
          </a:prstGeom>
          <a:solidFill>
            <a:srgbClr val="13314F"/>
          </a:solidFill>
          <a:ln/>
        </p:spPr>
      </p:sp>
      <p:sp>
        <p:nvSpPr>
          <p:cNvPr id="13" name="Text 11"/>
          <p:cNvSpPr/>
          <p:nvPr/>
        </p:nvSpPr>
        <p:spPr>
          <a:xfrm>
            <a:off x="6643116" y="2468880"/>
            <a:ext cx="4585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314F"/>
                </a:solidFill>
              </a:rPr>
              <a:t>ENGINE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43116" y="274320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3"/>
                </a:solidFill>
              </a:rPr>
              <a:t>Physical AI Engine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43116" y="3291840"/>
            <a:ext cx="45857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3"/>
                </a:solidFill>
              </a:rPr>
              <a:t>Embodied-AI research → IP, course material, and (when funded) hardware products. Avinash leads; Deepak co-leads the drone.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10908792" cy="868680"/>
          </a:xfrm>
          <a:prstGeom prst="rect">
            <a:avLst/>
          </a:prstGeom>
          <a:solidFill>
            <a:srgbClr val="0B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9204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Revenue funds research   ·   Research makes the teaching credible   ·   Both feed talent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TrigunAI Innovations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720072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2333"/>
                </a:solidFill>
              </a:rPr>
              <a:t>TRIGUNAI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41148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</a:rPr>
              <a:t>ENGINE A — LEARNING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 by shipping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7085"/>
                </a:solidFill>
              </a:rPr>
              <a:t>Recorded videos are free (the funnel). The paid product is a live cohort.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1090879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560320"/>
            <a:ext cx="91440" cy="67665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60320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3"/>
                </a:solidFill>
              </a:rPr>
              <a:t>Live courses platform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023360" y="2560320"/>
            <a:ext cx="7251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</a:rPr>
              <a:t>learn.trigunai.com — magic-link auth, student + admin dashboards. In production.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328416"/>
            <a:ext cx="1090879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328416"/>
            <a:ext cx="91440" cy="67665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32841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3"/>
                </a:solidFill>
              </a:rPr>
              <a:t>Flagship course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023360" y="3328416"/>
            <a:ext cx="7251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</a:rPr>
              <a:t>Build &amp; Ship a VR/MR App — 9 of 11 modules produced and public (EN + HI).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096512"/>
            <a:ext cx="1090879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096512"/>
            <a:ext cx="91440" cy="67665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09651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3"/>
                </a:solidFill>
              </a:rPr>
              <a:t>Course lineup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023360" y="4096512"/>
            <a:ext cx="7251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</a:rPr>
              <a:t>VR/MR (flagship) + Agentic AI + ML &amp; Math, with Physical AI / Robotics in development.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64608"/>
            <a:ext cx="1090879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864608"/>
            <a:ext cx="91440" cy="67665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864608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3"/>
                </a:solidFill>
              </a:rPr>
              <a:t>Free funnel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023360" y="4864608"/>
            <a:ext cx="7251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</a:rPr>
              <a:t>"AI is the Universal Mind" — 7 animated episodes, bilingual, on YouTube.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632704"/>
            <a:ext cx="1090879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5632704"/>
            <a:ext cx="91440" cy="67665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632704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3"/>
                </a:solidFill>
              </a:rPr>
              <a:t>Proof of shipping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023360" y="5632704"/>
            <a:ext cx="7251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</a:rPr>
              <a:t>GuruLok — a meditation VR app live on the Meta Quest store.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TrigunAI Innovations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720072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2333"/>
                </a:solidFill>
              </a:rPr>
              <a:t>TRIGUNAI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41148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</a:rPr>
              <a:t>ENGINE B — PHYSICAL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Simulation-trained intelligence, deployed to the edge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2579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225796" cy="10972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468880"/>
            <a:ext cx="4585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B900"/>
                </a:solidFill>
              </a:rPr>
              <a:t>TRACK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74320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3"/>
                </a:solidFill>
              </a:rPr>
              <a:t>Drone Cinematography Policy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3246120"/>
            <a:ext cx="458571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</a:rPr>
              <a:t>PPO trained in NVIDIA Isaac Sim / Isaac Lab (4096 envs, A10G).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</a:rPr>
              <a:t>Exported to ONNX (~80 KB), runs on-device at 50 Hz; VR-validated in our Quest app.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</a:rPr>
              <a:t>Target hardware: Modal AI Starling 2 + GoPro Hero 12.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23076" y="2194560"/>
            <a:ext cx="522579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23076" y="2194560"/>
            <a:ext cx="5225796" cy="10972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3" name="Text 11"/>
          <p:cNvSpPr/>
          <p:nvPr/>
        </p:nvSpPr>
        <p:spPr>
          <a:xfrm>
            <a:off x="6643116" y="2468880"/>
            <a:ext cx="4585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B900"/>
                </a:solidFill>
              </a:rPr>
              <a:t>TRACK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43116" y="274320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3"/>
                </a:solidFill>
              </a:rPr>
              <a:t>ModusXR — AR Attention Guidance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43116" y="3246120"/>
            <a:ext cx="458571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</a:rPr>
              <a:t>Three additive focus modes for optical see-through AR.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</a:rPr>
              <a:t>Participant in Google's Android XR Catalyst program.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</a:rPr>
              <a:t>Target hardware: XREAL Project Aura; prototyped on Quest 3 passthrough.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TrigunAI Innovations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720072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2333"/>
                </a:solidFill>
              </a:rPr>
              <a:t>TRIGUNAI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41148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</a:rPr>
              <a:t>THE FLYWHEEL WE'RE BUILDING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learn inside the real research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FFF4D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6D1A"/>
                </a:solidFill>
              </a:rPr>
              <a:t>Roadmap thesis — not yet operational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502920" cy="502920"/>
          </a:xfrm>
          <a:prstGeom prst="ellipse">
            <a:avLst/>
          </a:prstGeom>
          <a:solidFill>
            <a:srgbClr val="0B1B2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697480"/>
            <a:ext cx="10177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3"/>
                </a:solidFill>
              </a:rPr>
              <a:t>The Robotics course's labs ARE the real drone-policy pipeline.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355848"/>
            <a:ext cx="502920" cy="502920"/>
          </a:xfrm>
          <a:prstGeom prst="ellipse">
            <a:avLst/>
          </a:prstGeom>
          <a:solidFill>
            <a:srgbClr val="0B1B2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355848"/>
            <a:ext cx="10177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3"/>
                </a:solidFill>
              </a:rPr>
              <a:t>Students learn RL on real NVIDIA hardware — not a toy copy.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014216"/>
            <a:ext cx="502920" cy="502920"/>
          </a:xfrm>
          <a:prstGeom prst="ellipse">
            <a:avLst/>
          </a:prstGeom>
          <a:solidFill>
            <a:srgbClr val="0B1B2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14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4014216"/>
            <a:ext cx="10177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3"/>
                </a:solidFill>
              </a:rPr>
              <a:t>Graduates become collaborators, hires, or customers.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672584"/>
            <a:ext cx="502920" cy="502920"/>
          </a:xfrm>
          <a:prstGeom prst="ellipse">
            <a:avLst/>
          </a:prstGeom>
          <a:solidFill>
            <a:srgbClr val="0B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672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672584"/>
            <a:ext cx="10177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3"/>
                </a:solidFill>
              </a:rPr>
              <a:t>We sit at the center of India's physical-AI talent flow.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54864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085"/>
                </a:solidFill>
              </a:rPr>
              <a:t>Honest today: the two engines run independently; the robotics course is in development. The coupling is the plan, not a current claim.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TrigunAI Innovations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20072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FB3C8"/>
                </a:solidFill>
              </a:rPr>
              <a:t>TRIGUNAI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6B900"/>
                </a:solidFill>
              </a:rPr>
              <a:t>NVIDIA TECH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NVIDIA, end to end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392424" cy="822960"/>
          </a:xfrm>
          <a:prstGeom prst="rect">
            <a:avLst/>
          </a:prstGeom>
          <a:solidFill>
            <a:srgbClr val="13314F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688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Isaac Sim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98264" y="2468880"/>
            <a:ext cx="3392424" cy="822960"/>
          </a:xfrm>
          <a:prstGeom prst="rect">
            <a:avLst/>
          </a:prstGeom>
          <a:solidFill>
            <a:srgbClr val="13314F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98264" y="24688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Isaac Lab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56448" y="2468880"/>
            <a:ext cx="3392424" cy="822960"/>
          </a:xfrm>
          <a:prstGeom prst="rect">
            <a:avLst/>
          </a:prstGeom>
          <a:solidFill>
            <a:srgbClr val="13314F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56448" y="24688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Omniverse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3392424" cy="822960"/>
          </a:xfrm>
          <a:prstGeom prst="rect">
            <a:avLst/>
          </a:prstGeom>
          <a:solidFill>
            <a:srgbClr val="13314F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7472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CUDA Toolkit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398264" y="3474720"/>
            <a:ext cx="3392424" cy="822960"/>
          </a:xfrm>
          <a:prstGeom prst="rect">
            <a:avLst/>
          </a:prstGeom>
          <a:solidFill>
            <a:srgbClr val="13314F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98264" y="347472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NVIDIA PyTorch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156448" y="3474720"/>
            <a:ext cx="3392424" cy="822960"/>
          </a:xfrm>
          <a:prstGeom prst="rect">
            <a:avLst/>
          </a:prstGeom>
          <a:solidFill>
            <a:srgbClr val="13314F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347472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ONNX → edge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0F0"/>
                </a:solidFill>
              </a:rPr>
              <a:t>Member of NVIDIA Inception. Policies train on A10G GPUs; edge target is Jetson-class. Not locked in — the ONNX policy ports anywhere.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</a:rPr>
              <a:t>TrigunAI Innovations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720072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2333"/>
                </a:solidFill>
              </a:rPr>
              <a:t>TRIGUNAI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41148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</a:rPr>
              <a:t>TRACTION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actually are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2579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225796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377440"/>
            <a:ext cx="4585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3"/>
                </a:solidFill>
              </a:rPr>
              <a:t>Shipped &amp; live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880360"/>
            <a:ext cx="4585716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</a:rPr>
              <a:t>GuruLok VR app live on the Meta Quest store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</a:rPr>
              <a:t>7 bilingual episodes published (EN + HI)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</a:rPr>
              <a:t>Courses platform + 9 VR/MR modules live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</a:rPr>
              <a:t>Drone policy trained + VR-validated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</a:rPr>
              <a:t>ModusXR in Google Android XR Catalyst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</a:rPr>
              <a:t>5 hostnames in production (Azure, India)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23076" y="2194560"/>
            <a:ext cx="522579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23076" y="2194560"/>
            <a:ext cx="5225796" cy="109728"/>
          </a:xfrm>
          <a:prstGeom prst="rect">
            <a:avLst/>
          </a:prstGeom>
          <a:solidFill>
            <a:srgbClr val="13314F"/>
          </a:solidFill>
          <a:ln/>
        </p:spPr>
      </p:sp>
      <p:sp>
        <p:nvSpPr>
          <p:cNvPr id="12" name="Text 10"/>
          <p:cNvSpPr/>
          <p:nvPr/>
        </p:nvSpPr>
        <p:spPr>
          <a:xfrm>
            <a:off x="6643116" y="2377440"/>
            <a:ext cx="4585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3"/>
                </a:solidFill>
              </a:rPr>
              <a:t>Honest stage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43116" y="2880360"/>
            <a:ext cx="458571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</a:rPr>
              <a:t>Pre-revenue. Founding-cohort phase.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</a:rPr>
              <a:t>Paid wall opens with the first live cohort.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</a:rPr>
              <a:t>~₹4,000/mo infrastructure. Bootstrapped.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</a:rPr>
              <a:t>2 founders, no outside capital raised.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43116" y="4572000"/>
            <a:ext cx="45857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085"/>
                </a:solidFill>
              </a:rPr>
              <a:t>We show the real stage on purpose — pre-seed, built, and ready to validate willingness-to-pay.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TrigunAI Innovations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20072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2333"/>
                </a:solidFill>
              </a:rPr>
              <a:t>TRIGUNAI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41148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</a:rPr>
              <a:t>BUSINESS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to understand · paid to transform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88915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606040"/>
            <a:ext cx="18891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67085"/>
                </a:solidFill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3017520"/>
            <a:ext cx="16696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3"/>
                </a:solidFill>
              </a:rPr>
              <a:t>Free series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3794760"/>
            <a:ext cx="1669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Funnel + email capture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94990" y="2468880"/>
            <a:ext cx="188915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94990" y="2606040"/>
            <a:ext cx="18891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67085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04718" y="3017520"/>
            <a:ext cx="16696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3"/>
                </a:solidFill>
              </a:rPr>
              <a:t>Community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04718" y="3794760"/>
            <a:ext cx="1669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Recurring bridge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49901" y="2468880"/>
            <a:ext cx="188915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49901" y="2606040"/>
            <a:ext cx="18891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67085"/>
                </a:solidFill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59629" y="3017520"/>
            <a:ext cx="16696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3"/>
                </a:solidFill>
              </a:rPr>
              <a:t>Recorded courses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9629" y="3794760"/>
            <a:ext cx="1669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Proof + passive floor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04811" y="2468880"/>
            <a:ext cx="1889150" cy="1828800"/>
          </a:xfrm>
          <a:prstGeom prst="rect">
            <a:avLst/>
          </a:prstGeom>
          <a:solidFill>
            <a:srgbClr val="0B1B2E"/>
          </a:solidFill>
          <a:ln w="12700">
            <a:solidFill>
              <a:srgbClr val="0B1B2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04811" y="2606040"/>
            <a:ext cx="18891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14539" y="3017520"/>
            <a:ext cx="16696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Live cohort + GPU + VR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14539" y="3794760"/>
            <a:ext cx="1669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A227"/>
                </a:solidFill>
              </a:rPr>
              <a:t>THE PROFIT ENGINE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659722" y="2468880"/>
            <a:ext cx="188915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59722" y="2606040"/>
            <a:ext cx="18891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67085"/>
                </a:solidFill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69450" y="3017520"/>
            <a:ext cx="16696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3"/>
                </a:solidFill>
              </a:rPr>
              <a:t>B2B AI-literacy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769450" y="3794760"/>
            <a:ext cx="1669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Later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48463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13314F"/>
                </a:solidFill>
              </a:rPr>
              <a:t>One self-run cohort (₹35–49k × ~20) ≈ ₹7–8 L. The moat — provided GPU + VR + "we shipped it" — is uncopyable.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TrigunAI Innovations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720072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2333"/>
                </a:solidFill>
              </a:rPr>
              <a:t>TRIGUNAI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41148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</a:rPr>
              <a:t>FOUNDERS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founders, two engines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22579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468880"/>
            <a:ext cx="4585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3"/>
                </a:solidFill>
              </a:rPr>
              <a:t>Deepak Kumar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45857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</a:rPr>
              <a:t>CEO · Mumbai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291840"/>
            <a:ext cx="458571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</a:rPr>
              <a:t>Runs the Learning Engine; co-leads the drone policy.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</a:rPr>
              <a:t>Shipped a Quest app to Meta alpha; built the full video + RL training pipeline.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23076" y="2240280"/>
            <a:ext cx="522579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43116" y="2468880"/>
            <a:ext cx="4585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3"/>
                </a:solidFill>
              </a:rPr>
              <a:t>Avinash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43116" y="2880360"/>
            <a:ext cx="45857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</a:rPr>
              <a:t>CTO · Patna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43116" y="3291840"/>
            <a:ext cx="458571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</a:rPr>
              <a:t>Leads the Physical AI Engine — ModusXR (Android XR Catalyst).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</a:rPr>
              <a:t>Deep-learning depth; maintains the shipped Quest apps.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Bootstrapped. NVIDIA Inception member. Google Android XR Catalyst participant.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TrigunAI Innovations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20072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FB3C8"/>
                </a:solidFill>
              </a:rPr>
              <a:t>TRIGUNAI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capital for hardware — operations are self-funded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10908792" cy="914400"/>
          </a:xfrm>
          <a:prstGeom prst="rect">
            <a:avLst/>
          </a:prstGeom>
          <a:solidFill>
            <a:srgbClr val="13314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697480"/>
            <a:ext cx="91440" cy="914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Drone hardware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1920" y="2697480"/>
            <a:ext cx="7342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Modal AI Starling 2 + GoPro Hero 12 (~$2.5–3K) + a 6-month flight-test runway.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10908792" cy="914400"/>
          </a:xfrm>
          <a:prstGeom prst="rect">
            <a:avLst/>
          </a:prstGeom>
          <a:solidFill>
            <a:srgbClr val="1331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749040"/>
            <a:ext cx="91440" cy="914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49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AR hardware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1920" y="3749040"/>
            <a:ext cx="7342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XREAL Aura developer kits + sustained ModusXR build bandwidth.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029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FE0F0"/>
                </a:solidFill>
              </a:rPr>
              <a:t>The software pipeline is ready. Hardware procurement is the only bottleneck to closing the sim-to-real gap. The Learning Engine funds day-to-day operations.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</a:rPr>
              <a:t>TrigunAI Innovations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720072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3" name="Image 0" descr="/Users/deepakkumarrai/Documents/01_Active/Blender-Antigravity/trigun-logo-output/trigun_2k_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00116" y="109728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5603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the physical-AI workforce.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34290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0F0"/>
                </a:solidFill>
              </a:rPr>
              <a:t>trigunai.com     ·     learn.trigunai.com     ·     physical-ai.trigunai.com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40233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deepak@trigunai.com</a:t>
            </a:r>
            <a:pPr algn="ctr" indent="0" marL="0">
              <a:buNone/>
            </a:pPr>
            <a:r>
              <a:rPr lang="en-US" sz="1500" dirty="0">
                <a:solidFill>
                  <a:srgbClr val="8FA6BD"/>
                </a:solidFill>
              </a:rPr>
              <a:t>   —   subject: "Investor enquiry — Physical AI"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49377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227"/>
                </a:solidFill>
              </a:rPr>
              <a:t>NVIDIA Inception Member   ·   Google Android XR Catalyst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TrigunAI Innovations Pvt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TrigunAI — Company Pitch (NVIDIA Inception)</dc:title>
  <dc:subject>PptxGenJS Presentation</dc:subject>
  <dc:creator>TrigunAI Innovations</dc:creator>
  <cp:lastModifiedBy>TrigunAI Innovations</cp:lastModifiedBy>
  <cp:revision>1</cp:revision>
  <dcterms:created xsi:type="dcterms:W3CDTF">2026-06-17T21:00:02Z</dcterms:created>
  <dcterms:modified xsi:type="dcterms:W3CDTF">2026-06-17T21:00:02Z</dcterms:modified>
</cp:coreProperties>
</file>